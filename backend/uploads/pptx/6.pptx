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Open Sans Bold" charset="1" panose="020B0806030504020204"/>
      <p:regular r:id="rId7"/>
    </p:embeddedFont>
    <p:embeddedFont>
      <p:font typeface="Open Sans" charset="1" panose="020B0606030504020204"/>
      <p:regular r:id="rId8"/>
    </p:embeddedFont>
    <p:embeddedFont>
      <p:font typeface="Lato" charset="1" panose="020F0502020204030203"/>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697744" cy="10692000"/>
            <a:chOff x="0" y="0"/>
            <a:chExt cx="966810" cy="3831771"/>
          </a:xfrm>
        </p:grpSpPr>
        <p:sp>
          <p:nvSpPr>
            <p:cNvPr name="Freeform 3" id="3"/>
            <p:cNvSpPr/>
            <p:nvPr/>
          </p:nvSpPr>
          <p:spPr>
            <a:xfrm flipH="false" flipV="false" rot="0">
              <a:off x="0" y="0"/>
              <a:ext cx="966810" cy="3831772"/>
            </a:xfrm>
            <a:custGeom>
              <a:avLst/>
              <a:gdLst/>
              <a:ahLst/>
              <a:cxnLst/>
              <a:rect r="r" b="b" t="t" l="l"/>
              <a:pathLst>
                <a:path h="3831772" w="966810">
                  <a:moveTo>
                    <a:pt x="0" y="0"/>
                  </a:moveTo>
                  <a:lnTo>
                    <a:pt x="966810" y="0"/>
                  </a:lnTo>
                  <a:lnTo>
                    <a:pt x="966810" y="3831772"/>
                  </a:lnTo>
                  <a:lnTo>
                    <a:pt x="0" y="3831772"/>
                  </a:lnTo>
                  <a:close/>
                </a:path>
              </a:pathLst>
            </a:custGeom>
            <a:solidFill>
              <a:srgbClr val="272828"/>
            </a:solidFill>
          </p:spPr>
        </p:sp>
        <p:sp>
          <p:nvSpPr>
            <p:cNvPr name="TextBox 4" id="4"/>
            <p:cNvSpPr txBox="true"/>
            <p:nvPr/>
          </p:nvSpPr>
          <p:spPr>
            <a:xfrm>
              <a:off x="0" y="-28575"/>
              <a:ext cx="966810" cy="3860346"/>
            </a:xfrm>
            <a:prstGeom prst="rect">
              <a:avLst/>
            </a:prstGeom>
          </p:spPr>
          <p:txBody>
            <a:bodyPr anchor="ctr" rtlCol="false" tIns="50800" lIns="50800" bIns="50800" rIns="50800"/>
            <a:lstStyle/>
            <a:p>
              <a:pPr algn="ctr">
                <a:lnSpc>
                  <a:spcPts val="1960"/>
                </a:lnSpc>
                <a:spcBef>
                  <a:spcPct val="0"/>
                </a:spcBef>
              </a:pPr>
            </a:p>
          </p:txBody>
        </p:sp>
      </p:grpSp>
      <p:sp>
        <p:nvSpPr>
          <p:cNvPr name="AutoShape 5" id="5"/>
          <p:cNvSpPr/>
          <p:nvPr/>
        </p:nvSpPr>
        <p:spPr>
          <a:xfrm rot="0">
            <a:off x="360312" y="3028375"/>
            <a:ext cx="2337432" cy="0"/>
          </a:xfrm>
          <a:prstGeom prst="line">
            <a:avLst/>
          </a:prstGeom>
          <a:ln cap="flat" w="9525">
            <a:solidFill>
              <a:srgbClr val="FFFFFF"/>
            </a:solidFill>
            <a:prstDash val="solid"/>
            <a:headEnd type="none" len="sm" w="sm"/>
            <a:tailEnd type="none" len="sm" w="sm"/>
          </a:ln>
        </p:spPr>
      </p:sp>
      <p:sp>
        <p:nvSpPr>
          <p:cNvPr name="AutoShape 6" id="6"/>
          <p:cNvSpPr/>
          <p:nvPr/>
        </p:nvSpPr>
        <p:spPr>
          <a:xfrm rot="0">
            <a:off x="360312" y="5549040"/>
            <a:ext cx="2337432" cy="0"/>
          </a:xfrm>
          <a:prstGeom prst="line">
            <a:avLst/>
          </a:prstGeom>
          <a:ln cap="flat" w="9525">
            <a:solidFill>
              <a:srgbClr val="FFFFFF"/>
            </a:solidFill>
            <a:prstDash val="solid"/>
            <a:headEnd type="none" len="sm" w="sm"/>
            <a:tailEnd type="none" len="sm" w="sm"/>
          </a:ln>
        </p:spPr>
      </p:sp>
      <p:sp>
        <p:nvSpPr>
          <p:cNvPr name="AutoShape 7" id="7"/>
          <p:cNvSpPr/>
          <p:nvPr/>
        </p:nvSpPr>
        <p:spPr>
          <a:xfrm flipV="true">
            <a:off x="3103332" y="4309713"/>
            <a:ext cx="4104437" cy="0"/>
          </a:xfrm>
          <a:prstGeom prst="line">
            <a:avLst/>
          </a:prstGeom>
          <a:ln cap="flat" w="9525">
            <a:solidFill>
              <a:srgbClr val="414042"/>
            </a:solidFill>
            <a:prstDash val="solid"/>
            <a:headEnd type="none" len="sm" w="sm"/>
            <a:tailEnd type="none" len="sm" w="sm"/>
          </a:ln>
        </p:spPr>
      </p:sp>
      <p:sp>
        <p:nvSpPr>
          <p:cNvPr name="AutoShape 8" id="8"/>
          <p:cNvSpPr/>
          <p:nvPr/>
        </p:nvSpPr>
        <p:spPr>
          <a:xfrm>
            <a:off x="360312" y="8268812"/>
            <a:ext cx="2337432" cy="0"/>
          </a:xfrm>
          <a:prstGeom prst="line">
            <a:avLst/>
          </a:prstGeom>
          <a:ln cap="flat" w="9525">
            <a:solidFill>
              <a:srgbClr val="FFFFFF"/>
            </a:solidFill>
            <a:prstDash val="solid"/>
            <a:headEnd type="none" len="sm" w="sm"/>
            <a:tailEnd type="none" len="sm" w="sm"/>
          </a:ln>
        </p:spPr>
      </p:sp>
      <p:grpSp>
        <p:nvGrpSpPr>
          <p:cNvPr name="Group 9" id="9"/>
          <p:cNvGrpSpPr>
            <a:grpSpLocks noChangeAspect="true"/>
          </p:cNvGrpSpPr>
          <p:nvPr/>
        </p:nvGrpSpPr>
        <p:grpSpPr>
          <a:xfrm rot="0">
            <a:off x="508625" y="327955"/>
            <a:ext cx="1680494" cy="1680488"/>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21015" t="-8947" r="-13901" b="-93049"/>
              </a:stretch>
            </a:blipFill>
          </p:spPr>
        </p:sp>
      </p:grpSp>
      <p:grpSp>
        <p:nvGrpSpPr>
          <p:cNvPr name="Group 11" id="11"/>
          <p:cNvGrpSpPr>
            <a:grpSpLocks noChangeAspect="true"/>
          </p:cNvGrpSpPr>
          <p:nvPr/>
        </p:nvGrpSpPr>
        <p:grpSpPr>
          <a:xfrm rot="0">
            <a:off x="372799" y="3798090"/>
            <a:ext cx="139953" cy="139542"/>
            <a:chOff x="0" y="0"/>
            <a:chExt cx="220777" cy="220116"/>
          </a:xfrm>
        </p:grpSpPr>
        <p:sp>
          <p:nvSpPr>
            <p:cNvPr name="Freeform 12" id="12"/>
            <p:cNvSpPr/>
            <p:nvPr/>
          </p:nvSpPr>
          <p:spPr>
            <a:xfrm flipH="false" flipV="false" rot="0">
              <a:off x="103" y="0"/>
              <a:ext cx="220360" cy="220091"/>
            </a:xfrm>
            <a:custGeom>
              <a:avLst/>
              <a:gdLst/>
              <a:ahLst/>
              <a:cxnLst/>
              <a:rect r="r" b="b" t="t" l="l"/>
              <a:pathLst>
                <a:path h="220091" w="220360">
                  <a:moveTo>
                    <a:pt x="220242" y="173736"/>
                  </a:moveTo>
                  <a:cubicBezTo>
                    <a:pt x="220750" y="177292"/>
                    <a:pt x="219607" y="180467"/>
                    <a:pt x="216940" y="183007"/>
                  </a:cubicBezTo>
                  <a:lnTo>
                    <a:pt x="185952" y="213741"/>
                  </a:lnTo>
                  <a:cubicBezTo>
                    <a:pt x="184555" y="215265"/>
                    <a:pt x="182777" y="216662"/>
                    <a:pt x="180491" y="217678"/>
                  </a:cubicBezTo>
                  <a:cubicBezTo>
                    <a:pt x="178205" y="218694"/>
                    <a:pt x="176046" y="219456"/>
                    <a:pt x="173887" y="219837"/>
                  </a:cubicBezTo>
                  <a:cubicBezTo>
                    <a:pt x="173760" y="219837"/>
                    <a:pt x="173252" y="219837"/>
                    <a:pt x="172490" y="219964"/>
                  </a:cubicBezTo>
                  <a:cubicBezTo>
                    <a:pt x="171728" y="220091"/>
                    <a:pt x="170712" y="220091"/>
                    <a:pt x="169442" y="220091"/>
                  </a:cubicBezTo>
                  <a:cubicBezTo>
                    <a:pt x="166521" y="220091"/>
                    <a:pt x="161695" y="219583"/>
                    <a:pt x="155091" y="218567"/>
                  </a:cubicBezTo>
                  <a:cubicBezTo>
                    <a:pt x="148487" y="217551"/>
                    <a:pt x="140359" y="215138"/>
                    <a:pt x="130834" y="211074"/>
                  </a:cubicBezTo>
                  <a:cubicBezTo>
                    <a:pt x="121309" y="207010"/>
                    <a:pt x="110387" y="201168"/>
                    <a:pt x="98322" y="193167"/>
                  </a:cubicBezTo>
                  <a:cubicBezTo>
                    <a:pt x="86257" y="185166"/>
                    <a:pt x="73303" y="174371"/>
                    <a:pt x="59587" y="160528"/>
                  </a:cubicBezTo>
                  <a:cubicBezTo>
                    <a:pt x="48665" y="149860"/>
                    <a:pt x="39648" y="139700"/>
                    <a:pt x="32536" y="129921"/>
                  </a:cubicBezTo>
                  <a:cubicBezTo>
                    <a:pt x="25424" y="120142"/>
                    <a:pt x="19582" y="110998"/>
                    <a:pt x="15264" y="102743"/>
                  </a:cubicBezTo>
                  <a:cubicBezTo>
                    <a:pt x="10946" y="94488"/>
                    <a:pt x="7644" y="86868"/>
                    <a:pt x="5485" y="80137"/>
                  </a:cubicBezTo>
                  <a:cubicBezTo>
                    <a:pt x="3326" y="73406"/>
                    <a:pt x="1802" y="67437"/>
                    <a:pt x="1040" y="62611"/>
                  </a:cubicBezTo>
                  <a:cubicBezTo>
                    <a:pt x="278" y="57785"/>
                    <a:pt x="-103" y="53848"/>
                    <a:pt x="24" y="51054"/>
                  </a:cubicBezTo>
                  <a:cubicBezTo>
                    <a:pt x="151" y="48260"/>
                    <a:pt x="278" y="46736"/>
                    <a:pt x="278" y="46355"/>
                  </a:cubicBezTo>
                  <a:cubicBezTo>
                    <a:pt x="532" y="44196"/>
                    <a:pt x="1294" y="41910"/>
                    <a:pt x="2310" y="39751"/>
                  </a:cubicBezTo>
                  <a:cubicBezTo>
                    <a:pt x="3326" y="37592"/>
                    <a:pt x="4723" y="35687"/>
                    <a:pt x="6247" y="34290"/>
                  </a:cubicBezTo>
                  <a:lnTo>
                    <a:pt x="37362" y="3302"/>
                  </a:lnTo>
                  <a:cubicBezTo>
                    <a:pt x="39521" y="1016"/>
                    <a:pt x="42061" y="0"/>
                    <a:pt x="44855" y="0"/>
                  </a:cubicBezTo>
                  <a:cubicBezTo>
                    <a:pt x="46887" y="0"/>
                    <a:pt x="48665" y="508"/>
                    <a:pt x="50189" y="1778"/>
                  </a:cubicBezTo>
                  <a:cubicBezTo>
                    <a:pt x="51713" y="3048"/>
                    <a:pt x="53110" y="4445"/>
                    <a:pt x="54126" y="6096"/>
                  </a:cubicBezTo>
                  <a:lnTo>
                    <a:pt x="79145" y="53340"/>
                  </a:lnTo>
                  <a:cubicBezTo>
                    <a:pt x="80542" y="55880"/>
                    <a:pt x="80923" y="58547"/>
                    <a:pt x="80288" y="61468"/>
                  </a:cubicBezTo>
                  <a:cubicBezTo>
                    <a:pt x="79653" y="64389"/>
                    <a:pt x="78383" y="66929"/>
                    <a:pt x="76351" y="68961"/>
                  </a:cubicBezTo>
                  <a:lnTo>
                    <a:pt x="64921" y="80391"/>
                  </a:lnTo>
                  <a:cubicBezTo>
                    <a:pt x="64667" y="80645"/>
                    <a:pt x="64286" y="81153"/>
                    <a:pt x="64159" y="81915"/>
                  </a:cubicBezTo>
                  <a:cubicBezTo>
                    <a:pt x="64032" y="82677"/>
                    <a:pt x="63778" y="83185"/>
                    <a:pt x="63778" y="83693"/>
                  </a:cubicBezTo>
                  <a:cubicBezTo>
                    <a:pt x="64413" y="86995"/>
                    <a:pt x="65810" y="90678"/>
                    <a:pt x="67969" y="94869"/>
                  </a:cubicBezTo>
                  <a:cubicBezTo>
                    <a:pt x="69874" y="98552"/>
                    <a:pt x="72668" y="103124"/>
                    <a:pt x="76605" y="108458"/>
                  </a:cubicBezTo>
                  <a:cubicBezTo>
                    <a:pt x="80542" y="113792"/>
                    <a:pt x="86003" y="120015"/>
                    <a:pt x="93115" y="127000"/>
                  </a:cubicBezTo>
                  <a:cubicBezTo>
                    <a:pt x="100100" y="134112"/>
                    <a:pt x="106323" y="139700"/>
                    <a:pt x="111784" y="143637"/>
                  </a:cubicBezTo>
                  <a:cubicBezTo>
                    <a:pt x="117245" y="147574"/>
                    <a:pt x="121817" y="150495"/>
                    <a:pt x="125373" y="152400"/>
                  </a:cubicBezTo>
                  <a:cubicBezTo>
                    <a:pt x="128929" y="154305"/>
                    <a:pt x="131850" y="155448"/>
                    <a:pt x="133755" y="155829"/>
                  </a:cubicBezTo>
                  <a:lnTo>
                    <a:pt x="136676" y="156464"/>
                  </a:lnTo>
                  <a:cubicBezTo>
                    <a:pt x="137057" y="156464"/>
                    <a:pt x="137565" y="156337"/>
                    <a:pt x="138200" y="156083"/>
                  </a:cubicBezTo>
                  <a:cubicBezTo>
                    <a:pt x="138835" y="155829"/>
                    <a:pt x="139343" y="155575"/>
                    <a:pt x="139724" y="155321"/>
                  </a:cubicBezTo>
                  <a:lnTo>
                    <a:pt x="153059" y="141732"/>
                  </a:lnTo>
                  <a:cubicBezTo>
                    <a:pt x="155853" y="139319"/>
                    <a:pt x="159155" y="138049"/>
                    <a:pt x="162838" y="138049"/>
                  </a:cubicBezTo>
                  <a:cubicBezTo>
                    <a:pt x="165505" y="138049"/>
                    <a:pt x="167537" y="138557"/>
                    <a:pt x="169061" y="139446"/>
                  </a:cubicBezTo>
                  <a:lnTo>
                    <a:pt x="169315" y="139446"/>
                  </a:lnTo>
                  <a:lnTo>
                    <a:pt x="214273" y="165989"/>
                  </a:lnTo>
                  <a:cubicBezTo>
                    <a:pt x="217575" y="168021"/>
                    <a:pt x="219480" y="170561"/>
                    <a:pt x="220115" y="173736"/>
                  </a:cubicBezTo>
                </a:path>
              </a:pathLst>
            </a:custGeom>
            <a:solidFill>
              <a:srgbClr val="FFFFFF"/>
            </a:solidFill>
          </p:spPr>
        </p:sp>
      </p:grpSp>
      <p:grpSp>
        <p:nvGrpSpPr>
          <p:cNvPr name="Group 13" id="13"/>
          <p:cNvGrpSpPr>
            <a:grpSpLocks noChangeAspect="true"/>
          </p:cNvGrpSpPr>
          <p:nvPr/>
        </p:nvGrpSpPr>
        <p:grpSpPr>
          <a:xfrm rot="0">
            <a:off x="380540" y="3205897"/>
            <a:ext cx="124471" cy="188113"/>
            <a:chOff x="0" y="0"/>
            <a:chExt cx="196342" cy="296748"/>
          </a:xfrm>
        </p:grpSpPr>
        <p:sp>
          <p:nvSpPr>
            <p:cNvPr name="Freeform 14" id="14"/>
            <p:cNvSpPr/>
            <p:nvPr/>
          </p:nvSpPr>
          <p:spPr>
            <a:xfrm flipH="false" flipV="false" rot="0">
              <a:off x="0" y="0"/>
              <a:ext cx="196342" cy="296799"/>
            </a:xfrm>
            <a:custGeom>
              <a:avLst/>
              <a:gdLst/>
              <a:ahLst/>
              <a:cxnLst/>
              <a:rect r="r" b="b" t="t" l="l"/>
              <a:pathLst>
                <a:path h="296799" w="196342">
                  <a:moveTo>
                    <a:pt x="98171" y="148336"/>
                  </a:moveTo>
                  <a:cubicBezTo>
                    <a:pt x="70104" y="148336"/>
                    <a:pt x="47244" y="125603"/>
                    <a:pt x="47244" y="97409"/>
                  </a:cubicBezTo>
                  <a:cubicBezTo>
                    <a:pt x="47244" y="69215"/>
                    <a:pt x="70104" y="46609"/>
                    <a:pt x="98171" y="46609"/>
                  </a:cubicBezTo>
                  <a:cubicBezTo>
                    <a:pt x="126238" y="46609"/>
                    <a:pt x="149098" y="69342"/>
                    <a:pt x="149098" y="97536"/>
                  </a:cubicBezTo>
                  <a:cubicBezTo>
                    <a:pt x="149098" y="125730"/>
                    <a:pt x="126365" y="148463"/>
                    <a:pt x="98171" y="148463"/>
                  </a:cubicBezTo>
                  <a:moveTo>
                    <a:pt x="98171" y="0"/>
                  </a:moveTo>
                  <a:cubicBezTo>
                    <a:pt x="44069" y="0"/>
                    <a:pt x="0" y="44069"/>
                    <a:pt x="0" y="98171"/>
                  </a:cubicBezTo>
                  <a:cubicBezTo>
                    <a:pt x="0" y="120015"/>
                    <a:pt x="13970" y="155575"/>
                    <a:pt x="42545" y="206883"/>
                  </a:cubicBezTo>
                  <a:cubicBezTo>
                    <a:pt x="62738" y="243205"/>
                    <a:pt x="82677" y="273431"/>
                    <a:pt x="83566" y="274701"/>
                  </a:cubicBezTo>
                  <a:lnTo>
                    <a:pt x="98171" y="296799"/>
                  </a:lnTo>
                  <a:lnTo>
                    <a:pt x="112776" y="274701"/>
                  </a:lnTo>
                  <a:cubicBezTo>
                    <a:pt x="113665" y="273431"/>
                    <a:pt x="133604" y="243205"/>
                    <a:pt x="153797" y="206883"/>
                  </a:cubicBezTo>
                  <a:cubicBezTo>
                    <a:pt x="182372" y="155575"/>
                    <a:pt x="196342" y="120015"/>
                    <a:pt x="196342" y="98298"/>
                  </a:cubicBezTo>
                  <a:cubicBezTo>
                    <a:pt x="196342" y="44069"/>
                    <a:pt x="152273" y="0"/>
                    <a:pt x="98171" y="0"/>
                  </a:cubicBezTo>
                </a:path>
              </a:pathLst>
            </a:custGeom>
            <a:solidFill>
              <a:srgbClr val="FFFFFF"/>
            </a:solidFill>
          </p:spPr>
        </p:sp>
      </p:grpSp>
      <p:grpSp>
        <p:nvGrpSpPr>
          <p:cNvPr name="Group 15" id="15"/>
          <p:cNvGrpSpPr>
            <a:grpSpLocks noChangeAspect="true"/>
          </p:cNvGrpSpPr>
          <p:nvPr/>
        </p:nvGrpSpPr>
        <p:grpSpPr>
          <a:xfrm rot="0">
            <a:off x="360312" y="4437166"/>
            <a:ext cx="164927" cy="164951"/>
            <a:chOff x="0" y="0"/>
            <a:chExt cx="260172" cy="260198"/>
          </a:xfrm>
        </p:grpSpPr>
        <p:sp>
          <p:nvSpPr>
            <p:cNvPr name="Freeform 16" id="16"/>
            <p:cNvSpPr/>
            <p:nvPr/>
          </p:nvSpPr>
          <p:spPr>
            <a:xfrm flipH="false" flipV="false" rot="0">
              <a:off x="0" y="0"/>
              <a:ext cx="260096" cy="260223"/>
            </a:xfrm>
            <a:custGeom>
              <a:avLst/>
              <a:gdLst/>
              <a:ahLst/>
              <a:cxnLst/>
              <a:rect r="r" b="b" t="t" l="l"/>
              <a:pathLst>
                <a:path h="260223" w="260096">
                  <a:moveTo>
                    <a:pt x="187325" y="156083"/>
                  </a:moveTo>
                  <a:cubicBezTo>
                    <a:pt x="188722" y="146939"/>
                    <a:pt x="188722" y="139192"/>
                    <a:pt x="188722" y="130048"/>
                  </a:cubicBezTo>
                  <a:cubicBezTo>
                    <a:pt x="188722" y="120904"/>
                    <a:pt x="187325" y="113157"/>
                    <a:pt x="187325" y="104013"/>
                  </a:cubicBezTo>
                  <a:lnTo>
                    <a:pt x="231521" y="104013"/>
                  </a:lnTo>
                  <a:cubicBezTo>
                    <a:pt x="234188" y="111887"/>
                    <a:pt x="235458" y="121031"/>
                    <a:pt x="235458" y="130048"/>
                  </a:cubicBezTo>
                  <a:cubicBezTo>
                    <a:pt x="235458" y="139065"/>
                    <a:pt x="234188" y="148209"/>
                    <a:pt x="231521" y="156083"/>
                  </a:cubicBezTo>
                  <a:close/>
                  <a:moveTo>
                    <a:pt x="163830" y="228981"/>
                  </a:moveTo>
                  <a:cubicBezTo>
                    <a:pt x="171704" y="214630"/>
                    <a:pt x="178181" y="199009"/>
                    <a:pt x="182118" y="182118"/>
                  </a:cubicBezTo>
                  <a:lnTo>
                    <a:pt x="219837" y="182118"/>
                  </a:lnTo>
                  <a:cubicBezTo>
                    <a:pt x="208153" y="204216"/>
                    <a:pt x="187325" y="219837"/>
                    <a:pt x="163830" y="228981"/>
                  </a:cubicBezTo>
                  <a:moveTo>
                    <a:pt x="160020" y="156210"/>
                  </a:moveTo>
                  <a:lnTo>
                    <a:pt x="100203" y="156210"/>
                  </a:lnTo>
                  <a:cubicBezTo>
                    <a:pt x="98933" y="147066"/>
                    <a:pt x="97663" y="139319"/>
                    <a:pt x="97663" y="130175"/>
                  </a:cubicBezTo>
                  <a:cubicBezTo>
                    <a:pt x="97663" y="121031"/>
                    <a:pt x="98933" y="113284"/>
                    <a:pt x="100203" y="104140"/>
                  </a:cubicBezTo>
                  <a:lnTo>
                    <a:pt x="161290" y="104140"/>
                  </a:lnTo>
                  <a:cubicBezTo>
                    <a:pt x="162560" y="113284"/>
                    <a:pt x="163830" y="121158"/>
                    <a:pt x="163830" y="130175"/>
                  </a:cubicBezTo>
                  <a:cubicBezTo>
                    <a:pt x="163830" y="139192"/>
                    <a:pt x="161290" y="147066"/>
                    <a:pt x="160020" y="156210"/>
                  </a:cubicBezTo>
                  <a:moveTo>
                    <a:pt x="130048" y="234188"/>
                  </a:moveTo>
                  <a:cubicBezTo>
                    <a:pt x="119634" y="218567"/>
                    <a:pt x="110490" y="201676"/>
                    <a:pt x="105283" y="182118"/>
                  </a:cubicBezTo>
                  <a:lnTo>
                    <a:pt x="154686" y="182118"/>
                  </a:lnTo>
                  <a:cubicBezTo>
                    <a:pt x="149479" y="200279"/>
                    <a:pt x="140335" y="218567"/>
                    <a:pt x="129921" y="234188"/>
                  </a:cubicBezTo>
                  <a:moveTo>
                    <a:pt x="78105" y="78105"/>
                  </a:moveTo>
                  <a:lnTo>
                    <a:pt x="40386" y="78105"/>
                  </a:lnTo>
                  <a:cubicBezTo>
                    <a:pt x="53340" y="56007"/>
                    <a:pt x="72898" y="40259"/>
                    <a:pt x="96266" y="31242"/>
                  </a:cubicBezTo>
                  <a:cubicBezTo>
                    <a:pt x="88519" y="46863"/>
                    <a:pt x="81915" y="61214"/>
                    <a:pt x="78105" y="78105"/>
                  </a:cubicBezTo>
                  <a:moveTo>
                    <a:pt x="40386" y="182118"/>
                  </a:moveTo>
                  <a:lnTo>
                    <a:pt x="78105" y="182118"/>
                  </a:lnTo>
                  <a:cubicBezTo>
                    <a:pt x="81915" y="199009"/>
                    <a:pt x="88519" y="213360"/>
                    <a:pt x="96393" y="228981"/>
                  </a:cubicBezTo>
                  <a:cubicBezTo>
                    <a:pt x="72898" y="219964"/>
                    <a:pt x="52070" y="204343"/>
                    <a:pt x="40386" y="182118"/>
                  </a:cubicBezTo>
                  <a:moveTo>
                    <a:pt x="29972" y="156083"/>
                  </a:moveTo>
                  <a:cubicBezTo>
                    <a:pt x="27305" y="148209"/>
                    <a:pt x="26035" y="139192"/>
                    <a:pt x="26035" y="130048"/>
                  </a:cubicBezTo>
                  <a:cubicBezTo>
                    <a:pt x="26035" y="120904"/>
                    <a:pt x="27305" y="111760"/>
                    <a:pt x="29972" y="104013"/>
                  </a:cubicBezTo>
                  <a:lnTo>
                    <a:pt x="74168" y="104013"/>
                  </a:lnTo>
                  <a:cubicBezTo>
                    <a:pt x="72898" y="113157"/>
                    <a:pt x="72898" y="121031"/>
                    <a:pt x="72898" y="130048"/>
                  </a:cubicBezTo>
                  <a:cubicBezTo>
                    <a:pt x="72898" y="139065"/>
                    <a:pt x="74168" y="146939"/>
                    <a:pt x="74168" y="156083"/>
                  </a:cubicBezTo>
                  <a:close/>
                  <a:moveTo>
                    <a:pt x="130048" y="26035"/>
                  </a:moveTo>
                  <a:cubicBezTo>
                    <a:pt x="140462" y="41656"/>
                    <a:pt x="149479" y="58547"/>
                    <a:pt x="154813" y="78105"/>
                  </a:cubicBezTo>
                  <a:lnTo>
                    <a:pt x="105410" y="78105"/>
                  </a:lnTo>
                  <a:cubicBezTo>
                    <a:pt x="110617" y="59817"/>
                    <a:pt x="119761" y="41656"/>
                    <a:pt x="130175" y="26035"/>
                  </a:cubicBezTo>
                  <a:moveTo>
                    <a:pt x="219964" y="78105"/>
                  </a:moveTo>
                  <a:lnTo>
                    <a:pt x="182118" y="78105"/>
                  </a:lnTo>
                  <a:cubicBezTo>
                    <a:pt x="178181" y="61214"/>
                    <a:pt x="171704" y="46863"/>
                    <a:pt x="163830" y="31242"/>
                  </a:cubicBezTo>
                  <a:cubicBezTo>
                    <a:pt x="187325" y="40259"/>
                    <a:pt x="208153" y="56007"/>
                    <a:pt x="219837" y="78105"/>
                  </a:cubicBezTo>
                  <a:moveTo>
                    <a:pt x="130048" y="0"/>
                  </a:moveTo>
                  <a:cubicBezTo>
                    <a:pt x="58547" y="0"/>
                    <a:pt x="0" y="58547"/>
                    <a:pt x="0" y="130048"/>
                  </a:cubicBezTo>
                  <a:cubicBezTo>
                    <a:pt x="0" y="201549"/>
                    <a:pt x="58547" y="260223"/>
                    <a:pt x="130048" y="260223"/>
                  </a:cubicBezTo>
                  <a:cubicBezTo>
                    <a:pt x="201549" y="260223"/>
                    <a:pt x="260096" y="201676"/>
                    <a:pt x="260096" y="130175"/>
                  </a:cubicBezTo>
                  <a:cubicBezTo>
                    <a:pt x="260096" y="58674"/>
                    <a:pt x="201549" y="0"/>
                    <a:pt x="130048" y="0"/>
                  </a:cubicBezTo>
                </a:path>
              </a:pathLst>
            </a:custGeom>
            <a:solidFill>
              <a:srgbClr val="FFFFFF"/>
            </a:solidFill>
          </p:spPr>
        </p:sp>
      </p:grpSp>
      <p:sp>
        <p:nvSpPr>
          <p:cNvPr name="TextBox 17" id="17"/>
          <p:cNvSpPr txBox="true"/>
          <p:nvPr/>
        </p:nvSpPr>
        <p:spPr>
          <a:xfrm rot="0">
            <a:off x="640409" y="3779040"/>
            <a:ext cx="732710" cy="181610"/>
          </a:xfrm>
          <a:prstGeom prst="rect">
            <a:avLst/>
          </a:prstGeom>
        </p:spPr>
        <p:txBody>
          <a:bodyPr anchor="t" rtlCol="false" tIns="0" lIns="0" bIns="0" rIns="0">
            <a:spAutoFit/>
          </a:bodyPr>
          <a:lstStyle/>
          <a:p>
            <a:pPr algn="l">
              <a:lnSpc>
                <a:spcPts val="1539"/>
              </a:lnSpc>
            </a:pPr>
            <a:r>
              <a:rPr lang="en-US" b="true" sz="1100">
                <a:solidFill>
                  <a:srgbClr val="FFFFFF"/>
                </a:solidFill>
                <a:latin typeface="Open Sans Bold"/>
                <a:ea typeface="Open Sans Bold"/>
                <a:cs typeface="Open Sans Bold"/>
                <a:sym typeface="Open Sans Bold"/>
              </a:rPr>
              <a:t>Phone</a:t>
            </a:r>
          </a:p>
        </p:txBody>
      </p:sp>
      <p:sp>
        <p:nvSpPr>
          <p:cNvPr name="TextBox 18" id="18"/>
          <p:cNvSpPr txBox="true"/>
          <p:nvPr/>
        </p:nvSpPr>
        <p:spPr>
          <a:xfrm rot="0">
            <a:off x="640409" y="3986466"/>
            <a:ext cx="954086" cy="155448"/>
          </a:xfrm>
          <a:prstGeom prst="rect">
            <a:avLst/>
          </a:prstGeom>
        </p:spPr>
        <p:txBody>
          <a:bodyPr anchor="t" rtlCol="false" tIns="0" lIns="0" bIns="0" rIns="0">
            <a:spAutoFit/>
          </a:bodyPr>
          <a:lstStyle/>
          <a:p>
            <a:pPr algn="l">
              <a:lnSpc>
                <a:spcPts val="1206"/>
              </a:lnSpc>
            </a:pPr>
            <a:r>
              <a:rPr lang="en-US" sz="900" spc="14">
                <a:solidFill>
                  <a:srgbClr val="FFFFFF"/>
                </a:solidFill>
                <a:latin typeface="Open Sans"/>
                <a:ea typeface="Open Sans"/>
                <a:cs typeface="Open Sans"/>
                <a:sym typeface="Open Sans"/>
              </a:rPr>
              <a:t>+123-456-7890</a:t>
            </a:r>
          </a:p>
        </p:txBody>
      </p:sp>
      <p:sp>
        <p:nvSpPr>
          <p:cNvPr name="TextBox 19" id="19"/>
          <p:cNvSpPr txBox="true"/>
          <p:nvPr/>
        </p:nvSpPr>
        <p:spPr>
          <a:xfrm rot="0">
            <a:off x="640409" y="4149503"/>
            <a:ext cx="1008784" cy="155448"/>
          </a:xfrm>
          <a:prstGeom prst="rect">
            <a:avLst/>
          </a:prstGeom>
        </p:spPr>
        <p:txBody>
          <a:bodyPr anchor="t" rtlCol="false" tIns="0" lIns="0" bIns="0" rIns="0">
            <a:spAutoFit/>
          </a:bodyPr>
          <a:lstStyle/>
          <a:p>
            <a:pPr algn="l">
              <a:lnSpc>
                <a:spcPts val="1206"/>
              </a:lnSpc>
            </a:pPr>
            <a:r>
              <a:rPr lang="en-US" sz="900" spc="14">
                <a:solidFill>
                  <a:srgbClr val="FFFFFF"/>
                </a:solidFill>
                <a:latin typeface="Open Sans"/>
                <a:ea typeface="Open Sans"/>
                <a:cs typeface="Open Sans"/>
                <a:sym typeface="Open Sans"/>
              </a:rPr>
              <a:t>+123-456-7890</a:t>
            </a:r>
          </a:p>
        </p:txBody>
      </p:sp>
      <p:sp>
        <p:nvSpPr>
          <p:cNvPr name="TextBox 20" id="20"/>
          <p:cNvSpPr txBox="true"/>
          <p:nvPr/>
        </p:nvSpPr>
        <p:spPr>
          <a:xfrm rot="0">
            <a:off x="640409" y="3186847"/>
            <a:ext cx="747029" cy="181610"/>
          </a:xfrm>
          <a:prstGeom prst="rect">
            <a:avLst/>
          </a:prstGeom>
        </p:spPr>
        <p:txBody>
          <a:bodyPr anchor="t" rtlCol="false" tIns="0" lIns="0" bIns="0" rIns="0">
            <a:spAutoFit/>
          </a:bodyPr>
          <a:lstStyle/>
          <a:p>
            <a:pPr algn="l">
              <a:lnSpc>
                <a:spcPts val="1539"/>
              </a:lnSpc>
            </a:pPr>
            <a:r>
              <a:rPr lang="en-US" b="true" sz="1100">
                <a:solidFill>
                  <a:srgbClr val="FFFFFF"/>
                </a:solidFill>
                <a:latin typeface="Open Sans Bold"/>
                <a:ea typeface="Open Sans Bold"/>
                <a:cs typeface="Open Sans Bold"/>
                <a:sym typeface="Open Sans Bold"/>
              </a:rPr>
              <a:t>Addres</a:t>
            </a:r>
          </a:p>
        </p:txBody>
      </p:sp>
      <p:sp>
        <p:nvSpPr>
          <p:cNvPr name="TextBox 21" id="21"/>
          <p:cNvSpPr txBox="true"/>
          <p:nvPr/>
        </p:nvSpPr>
        <p:spPr>
          <a:xfrm rot="0">
            <a:off x="640409" y="3374960"/>
            <a:ext cx="1727253" cy="307848"/>
          </a:xfrm>
          <a:prstGeom prst="rect">
            <a:avLst/>
          </a:prstGeom>
        </p:spPr>
        <p:txBody>
          <a:bodyPr anchor="t" rtlCol="false" tIns="0" lIns="0" bIns="0" rIns="0">
            <a:spAutoFit/>
          </a:bodyPr>
          <a:lstStyle/>
          <a:p>
            <a:pPr algn="l">
              <a:lnSpc>
                <a:spcPts val="1206"/>
              </a:lnSpc>
            </a:pPr>
            <a:r>
              <a:rPr lang="en-US" sz="900" spc="14">
                <a:solidFill>
                  <a:srgbClr val="FFFFFF"/>
                </a:solidFill>
                <a:latin typeface="Open Sans"/>
                <a:ea typeface="Open Sans"/>
                <a:cs typeface="Open Sans"/>
                <a:sym typeface="Open Sans"/>
              </a:rPr>
              <a:t>123 Anywhere St., Any City, ST 12345</a:t>
            </a:r>
          </a:p>
        </p:txBody>
      </p:sp>
      <p:sp>
        <p:nvSpPr>
          <p:cNvPr name="TextBox 22" id="22"/>
          <p:cNvSpPr txBox="true"/>
          <p:nvPr/>
        </p:nvSpPr>
        <p:spPr>
          <a:xfrm rot="0">
            <a:off x="640409" y="4418116"/>
            <a:ext cx="543339" cy="181610"/>
          </a:xfrm>
          <a:prstGeom prst="rect">
            <a:avLst/>
          </a:prstGeom>
        </p:spPr>
        <p:txBody>
          <a:bodyPr anchor="t" rtlCol="false" tIns="0" lIns="0" bIns="0" rIns="0">
            <a:spAutoFit/>
          </a:bodyPr>
          <a:lstStyle/>
          <a:p>
            <a:pPr algn="l">
              <a:lnSpc>
                <a:spcPts val="1539"/>
              </a:lnSpc>
            </a:pPr>
            <a:r>
              <a:rPr lang="en-US" b="true" sz="1100">
                <a:solidFill>
                  <a:srgbClr val="FFFFFF"/>
                </a:solidFill>
                <a:latin typeface="Open Sans Bold"/>
                <a:ea typeface="Open Sans Bold"/>
                <a:cs typeface="Open Sans Bold"/>
                <a:sym typeface="Open Sans Bold"/>
              </a:rPr>
              <a:t>Web</a:t>
            </a:r>
          </a:p>
        </p:txBody>
      </p:sp>
      <p:sp>
        <p:nvSpPr>
          <p:cNvPr name="TextBox 23" id="23"/>
          <p:cNvSpPr txBox="true"/>
          <p:nvPr/>
        </p:nvSpPr>
        <p:spPr>
          <a:xfrm rot="0">
            <a:off x="640409" y="4628301"/>
            <a:ext cx="1511079" cy="155448"/>
          </a:xfrm>
          <a:prstGeom prst="rect">
            <a:avLst/>
          </a:prstGeom>
        </p:spPr>
        <p:txBody>
          <a:bodyPr anchor="t" rtlCol="false" tIns="0" lIns="0" bIns="0" rIns="0">
            <a:spAutoFit/>
          </a:bodyPr>
          <a:lstStyle/>
          <a:p>
            <a:pPr algn="l">
              <a:lnSpc>
                <a:spcPts val="1206"/>
              </a:lnSpc>
            </a:pPr>
            <a:r>
              <a:rPr lang="en-US" sz="900" spc="14">
                <a:solidFill>
                  <a:srgbClr val="FFFFFF"/>
                </a:solidFill>
                <a:latin typeface="Open Sans"/>
                <a:ea typeface="Open Sans"/>
                <a:cs typeface="Open Sans"/>
                <a:sym typeface="Open Sans"/>
              </a:rPr>
              <a:t>hello@reallygreatsite.com</a:t>
            </a:r>
          </a:p>
        </p:txBody>
      </p:sp>
      <p:sp>
        <p:nvSpPr>
          <p:cNvPr name="TextBox 24" id="24"/>
          <p:cNvSpPr txBox="true"/>
          <p:nvPr/>
        </p:nvSpPr>
        <p:spPr>
          <a:xfrm rot="0">
            <a:off x="640409" y="4749544"/>
            <a:ext cx="1511079" cy="155448"/>
          </a:xfrm>
          <a:prstGeom prst="rect">
            <a:avLst/>
          </a:prstGeom>
        </p:spPr>
        <p:txBody>
          <a:bodyPr anchor="t" rtlCol="false" tIns="0" lIns="0" bIns="0" rIns="0">
            <a:spAutoFit/>
          </a:bodyPr>
          <a:lstStyle/>
          <a:p>
            <a:pPr algn="l">
              <a:lnSpc>
                <a:spcPts val="1206"/>
              </a:lnSpc>
            </a:pPr>
            <a:r>
              <a:rPr lang="en-US" sz="900" spc="14">
                <a:solidFill>
                  <a:srgbClr val="FFFFFF"/>
                </a:solidFill>
                <a:latin typeface="Open Sans"/>
                <a:ea typeface="Open Sans"/>
                <a:cs typeface="Open Sans"/>
                <a:sym typeface="Open Sans"/>
              </a:rPr>
              <a:t>www.reallygreatsite.com</a:t>
            </a:r>
          </a:p>
        </p:txBody>
      </p:sp>
      <p:sp>
        <p:nvSpPr>
          <p:cNvPr name="TextBox 25" id="25"/>
          <p:cNvSpPr txBox="true"/>
          <p:nvPr/>
        </p:nvSpPr>
        <p:spPr>
          <a:xfrm rot="0">
            <a:off x="3103332" y="2402790"/>
            <a:ext cx="4104437" cy="1001184"/>
          </a:xfrm>
          <a:prstGeom prst="rect">
            <a:avLst/>
          </a:prstGeom>
        </p:spPr>
        <p:txBody>
          <a:bodyPr anchor="t" rtlCol="false" tIns="0" lIns="0" bIns="0" rIns="0">
            <a:spAutoFit/>
          </a:bodyPr>
          <a:lstStyle/>
          <a:p>
            <a:pPr algn="just">
              <a:lnSpc>
                <a:spcPts val="1160"/>
              </a:lnSpc>
            </a:pPr>
            <a:r>
              <a:rPr lang="en-US" sz="800">
                <a:solidFill>
                  <a:srgbClr val="737373"/>
                </a:solidFill>
                <a:latin typeface="Open Sans"/>
                <a:ea typeface="Open Sans"/>
                <a:cs typeface="Open Sans"/>
                <a:sym typeface="Open Sans"/>
              </a:rPr>
              <a:t>Lorem ipsum dolor sit amet, consectetur adipiscing elit. Nullam pharetra in lorem at laoreet. Donec hendrerit libero eget est tempor, quis tempus arcu elementum. In elementum elit at dui tristique feugiat. Mauris convallis, mi at mattis malesuada, neque nulla volutpat dolor, hendrerit faucibus eros nibh ut nunc. Proin luctus urna id nunc sagittis dignissim. Sed in libero sed libero dictum dapibus. Vivamus fermentum est eget lorem aliquet, vel tempus metus dignissim. Donec risus arcu, tristique et sollicitudin blandit, iaculis ut nisl. Integer rutrum ultricies fringilla.</a:t>
            </a:r>
          </a:p>
        </p:txBody>
      </p:sp>
      <p:sp>
        <p:nvSpPr>
          <p:cNvPr name="TextBox 26" id="26"/>
          <p:cNvSpPr txBox="true"/>
          <p:nvPr/>
        </p:nvSpPr>
        <p:spPr>
          <a:xfrm rot="0">
            <a:off x="360312" y="2688425"/>
            <a:ext cx="1640969" cy="264160"/>
          </a:xfrm>
          <a:prstGeom prst="rect">
            <a:avLst/>
          </a:prstGeom>
        </p:spPr>
        <p:txBody>
          <a:bodyPr anchor="t" rtlCol="false" tIns="0" lIns="0" bIns="0" rIns="0">
            <a:spAutoFit/>
          </a:bodyPr>
          <a:lstStyle/>
          <a:p>
            <a:pPr algn="l">
              <a:lnSpc>
                <a:spcPts val="2239"/>
              </a:lnSpc>
            </a:pPr>
            <a:r>
              <a:rPr lang="en-US" sz="1599">
                <a:solidFill>
                  <a:srgbClr val="38B6FF"/>
                </a:solidFill>
                <a:latin typeface="Open Sans"/>
                <a:ea typeface="Open Sans"/>
                <a:cs typeface="Open Sans"/>
                <a:sym typeface="Open Sans"/>
              </a:rPr>
              <a:t>CONTACT</a:t>
            </a:r>
          </a:p>
        </p:txBody>
      </p:sp>
      <p:sp>
        <p:nvSpPr>
          <p:cNvPr name="TextBox 27" id="27"/>
          <p:cNvSpPr txBox="true"/>
          <p:nvPr/>
        </p:nvSpPr>
        <p:spPr>
          <a:xfrm rot="0">
            <a:off x="3103332" y="1974067"/>
            <a:ext cx="1640969" cy="264160"/>
          </a:xfrm>
          <a:prstGeom prst="rect">
            <a:avLst/>
          </a:prstGeom>
        </p:spPr>
        <p:txBody>
          <a:bodyPr anchor="t" rtlCol="false" tIns="0" lIns="0" bIns="0" rIns="0">
            <a:spAutoFit/>
          </a:bodyPr>
          <a:lstStyle/>
          <a:p>
            <a:pPr algn="l">
              <a:lnSpc>
                <a:spcPts val="2239"/>
              </a:lnSpc>
            </a:pPr>
            <a:r>
              <a:rPr lang="en-US" sz="1599">
                <a:solidFill>
                  <a:srgbClr val="272828"/>
                </a:solidFill>
                <a:latin typeface="Open Sans"/>
                <a:ea typeface="Open Sans"/>
                <a:cs typeface="Open Sans"/>
                <a:sym typeface="Open Sans"/>
              </a:rPr>
              <a:t>PROFILE</a:t>
            </a:r>
          </a:p>
        </p:txBody>
      </p:sp>
      <p:sp>
        <p:nvSpPr>
          <p:cNvPr name="TextBox 28" id="28"/>
          <p:cNvSpPr txBox="true"/>
          <p:nvPr/>
        </p:nvSpPr>
        <p:spPr>
          <a:xfrm rot="0">
            <a:off x="360312" y="5166062"/>
            <a:ext cx="1506433" cy="264160"/>
          </a:xfrm>
          <a:prstGeom prst="rect">
            <a:avLst/>
          </a:prstGeom>
        </p:spPr>
        <p:txBody>
          <a:bodyPr anchor="t" rtlCol="false" tIns="0" lIns="0" bIns="0" rIns="0">
            <a:spAutoFit/>
          </a:bodyPr>
          <a:lstStyle/>
          <a:p>
            <a:pPr algn="l">
              <a:lnSpc>
                <a:spcPts val="2239"/>
              </a:lnSpc>
            </a:pPr>
            <a:r>
              <a:rPr lang="en-US" sz="1599">
                <a:solidFill>
                  <a:srgbClr val="38B6FF"/>
                </a:solidFill>
                <a:latin typeface="Open Sans"/>
                <a:ea typeface="Open Sans"/>
                <a:cs typeface="Open Sans"/>
                <a:sym typeface="Open Sans"/>
              </a:rPr>
              <a:t>EDUCATION</a:t>
            </a:r>
          </a:p>
        </p:txBody>
      </p:sp>
      <p:sp>
        <p:nvSpPr>
          <p:cNvPr name="TextBox 29" id="29"/>
          <p:cNvSpPr txBox="true"/>
          <p:nvPr/>
        </p:nvSpPr>
        <p:spPr>
          <a:xfrm rot="0">
            <a:off x="3103332" y="3961596"/>
            <a:ext cx="1506433" cy="264160"/>
          </a:xfrm>
          <a:prstGeom prst="rect">
            <a:avLst/>
          </a:prstGeom>
        </p:spPr>
        <p:txBody>
          <a:bodyPr anchor="t" rtlCol="false" tIns="0" lIns="0" bIns="0" rIns="0">
            <a:spAutoFit/>
          </a:bodyPr>
          <a:lstStyle/>
          <a:p>
            <a:pPr algn="l">
              <a:lnSpc>
                <a:spcPts val="2239"/>
              </a:lnSpc>
            </a:pPr>
            <a:r>
              <a:rPr lang="en-US" sz="1599">
                <a:solidFill>
                  <a:srgbClr val="272828"/>
                </a:solidFill>
                <a:latin typeface="Open Sans"/>
                <a:ea typeface="Open Sans"/>
                <a:cs typeface="Open Sans"/>
                <a:sym typeface="Open Sans"/>
              </a:rPr>
              <a:t>EXPERIENCE</a:t>
            </a:r>
          </a:p>
        </p:txBody>
      </p:sp>
      <p:sp>
        <p:nvSpPr>
          <p:cNvPr name="TextBox 30" id="30"/>
          <p:cNvSpPr txBox="true"/>
          <p:nvPr/>
        </p:nvSpPr>
        <p:spPr>
          <a:xfrm rot="0">
            <a:off x="360312" y="7880867"/>
            <a:ext cx="1506433" cy="264160"/>
          </a:xfrm>
          <a:prstGeom prst="rect">
            <a:avLst/>
          </a:prstGeom>
        </p:spPr>
        <p:txBody>
          <a:bodyPr anchor="t" rtlCol="false" tIns="0" lIns="0" bIns="0" rIns="0">
            <a:spAutoFit/>
          </a:bodyPr>
          <a:lstStyle/>
          <a:p>
            <a:pPr algn="l">
              <a:lnSpc>
                <a:spcPts val="2239"/>
              </a:lnSpc>
            </a:pPr>
            <a:r>
              <a:rPr lang="en-US" sz="1599">
                <a:solidFill>
                  <a:srgbClr val="38B6FF"/>
                </a:solidFill>
                <a:latin typeface="Open Sans"/>
                <a:ea typeface="Open Sans"/>
                <a:cs typeface="Open Sans"/>
                <a:sym typeface="Open Sans"/>
              </a:rPr>
              <a:t>PRO.SKILLS</a:t>
            </a:r>
          </a:p>
        </p:txBody>
      </p:sp>
      <p:sp>
        <p:nvSpPr>
          <p:cNvPr name="TextBox 31" id="31"/>
          <p:cNvSpPr txBox="true"/>
          <p:nvPr/>
        </p:nvSpPr>
        <p:spPr>
          <a:xfrm rot="0">
            <a:off x="3203834" y="796123"/>
            <a:ext cx="3600166" cy="448310"/>
          </a:xfrm>
          <a:prstGeom prst="rect">
            <a:avLst/>
          </a:prstGeom>
        </p:spPr>
        <p:txBody>
          <a:bodyPr anchor="t" rtlCol="false" tIns="0" lIns="0" bIns="0" rIns="0">
            <a:spAutoFit/>
          </a:bodyPr>
          <a:lstStyle/>
          <a:p>
            <a:pPr algn="l">
              <a:lnSpc>
                <a:spcPts val="3640"/>
              </a:lnSpc>
            </a:pPr>
            <a:r>
              <a:rPr lang="en-US" b="true" sz="2600" spc="182">
                <a:solidFill>
                  <a:srgbClr val="272828"/>
                </a:solidFill>
                <a:latin typeface="Open Sans Bold"/>
                <a:ea typeface="Open Sans Bold"/>
                <a:cs typeface="Open Sans Bold"/>
                <a:sym typeface="Open Sans Bold"/>
              </a:rPr>
              <a:t>Mariana Anderson</a:t>
            </a:r>
          </a:p>
        </p:txBody>
      </p:sp>
      <p:sp>
        <p:nvSpPr>
          <p:cNvPr name="TextBox 32" id="32"/>
          <p:cNvSpPr txBox="true"/>
          <p:nvPr/>
        </p:nvSpPr>
        <p:spPr>
          <a:xfrm rot="0">
            <a:off x="3203834" y="1285003"/>
            <a:ext cx="3030686" cy="198120"/>
          </a:xfrm>
          <a:prstGeom prst="rect">
            <a:avLst/>
          </a:prstGeom>
        </p:spPr>
        <p:txBody>
          <a:bodyPr anchor="t" rtlCol="false" tIns="0" lIns="0" bIns="0" rIns="0">
            <a:spAutoFit/>
          </a:bodyPr>
          <a:lstStyle/>
          <a:p>
            <a:pPr algn="l">
              <a:lnSpc>
                <a:spcPts val="1679"/>
              </a:lnSpc>
              <a:spcBef>
                <a:spcPct val="0"/>
              </a:spcBef>
            </a:pPr>
            <a:r>
              <a:rPr lang="en-US" sz="1200" spc="256">
                <a:solidFill>
                  <a:srgbClr val="272828"/>
                </a:solidFill>
                <a:latin typeface="Open Sans"/>
                <a:ea typeface="Open Sans"/>
                <a:cs typeface="Open Sans"/>
                <a:sym typeface="Open Sans"/>
              </a:rPr>
              <a:t>Marketing Manager</a:t>
            </a:r>
          </a:p>
        </p:txBody>
      </p:sp>
      <p:sp>
        <p:nvSpPr>
          <p:cNvPr name="TextBox 33" id="33"/>
          <p:cNvSpPr txBox="true"/>
          <p:nvPr/>
        </p:nvSpPr>
        <p:spPr>
          <a:xfrm rot="0">
            <a:off x="360312" y="6035312"/>
            <a:ext cx="2100094" cy="148590"/>
          </a:xfrm>
          <a:prstGeom prst="rect">
            <a:avLst/>
          </a:prstGeom>
        </p:spPr>
        <p:txBody>
          <a:bodyPr anchor="t" rtlCol="false" tIns="0" lIns="0" bIns="0" rIns="0">
            <a:spAutoFit/>
          </a:bodyPr>
          <a:lstStyle/>
          <a:p>
            <a:pPr algn="l">
              <a:lnSpc>
                <a:spcPts val="1260"/>
              </a:lnSpc>
            </a:pPr>
            <a:r>
              <a:rPr lang="en-US" sz="900" spc="-2">
                <a:solidFill>
                  <a:srgbClr val="FFFFFF"/>
                </a:solidFill>
                <a:latin typeface="Open Sans"/>
                <a:ea typeface="Open Sans"/>
                <a:cs typeface="Open Sans"/>
                <a:sym typeface="Open Sans"/>
              </a:rPr>
              <a:t>Bachelor of Business Management</a:t>
            </a:r>
          </a:p>
        </p:txBody>
      </p:sp>
      <p:sp>
        <p:nvSpPr>
          <p:cNvPr name="TextBox 34" id="34"/>
          <p:cNvSpPr txBox="true"/>
          <p:nvPr/>
        </p:nvSpPr>
        <p:spPr>
          <a:xfrm rot="0">
            <a:off x="360312" y="5841530"/>
            <a:ext cx="1831647" cy="165100"/>
          </a:xfrm>
          <a:prstGeom prst="rect">
            <a:avLst/>
          </a:prstGeom>
        </p:spPr>
        <p:txBody>
          <a:bodyPr anchor="t" rtlCol="false" tIns="0" lIns="0" bIns="0" rIns="0">
            <a:spAutoFit/>
          </a:bodyPr>
          <a:lstStyle/>
          <a:p>
            <a:pPr algn="l">
              <a:lnSpc>
                <a:spcPts val="1399"/>
              </a:lnSpc>
            </a:pPr>
            <a:r>
              <a:rPr lang="en-US" b="true" sz="999" spc="-2">
                <a:solidFill>
                  <a:srgbClr val="FFFFFF"/>
                </a:solidFill>
                <a:latin typeface="Open Sans Bold"/>
                <a:ea typeface="Open Sans Bold"/>
                <a:cs typeface="Open Sans Bold"/>
                <a:sym typeface="Open Sans Bold"/>
              </a:rPr>
              <a:t>BORCELLE UNIVERSITY</a:t>
            </a:r>
          </a:p>
        </p:txBody>
      </p:sp>
      <p:sp>
        <p:nvSpPr>
          <p:cNvPr name="TextBox 35" id="35"/>
          <p:cNvSpPr txBox="true"/>
          <p:nvPr/>
        </p:nvSpPr>
        <p:spPr>
          <a:xfrm rot="0">
            <a:off x="360312" y="5696521"/>
            <a:ext cx="996580" cy="148590"/>
          </a:xfrm>
          <a:prstGeom prst="rect">
            <a:avLst/>
          </a:prstGeom>
        </p:spPr>
        <p:txBody>
          <a:bodyPr anchor="t" rtlCol="false" tIns="0" lIns="0" bIns="0" rIns="0">
            <a:spAutoFit/>
          </a:bodyPr>
          <a:lstStyle/>
          <a:p>
            <a:pPr algn="l">
              <a:lnSpc>
                <a:spcPts val="1260"/>
              </a:lnSpc>
            </a:pPr>
            <a:r>
              <a:rPr lang="en-US" sz="900" spc="42">
                <a:solidFill>
                  <a:srgbClr val="FFFFFF"/>
                </a:solidFill>
                <a:latin typeface="Open Sans"/>
                <a:ea typeface="Open Sans"/>
                <a:cs typeface="Open Sans"/>
                <a:sym typeface="Open Sans"/>
              </a:rPr>
              <a:t>2008</a:t>
            </a:r>
          </a:p>
        </p:txBody>
      </p:sp>
      <p:sp>
        <p:nvSpPr>
          <p:cNvPr name="TextBox 36" id="36"/>
          <p:cNvSpPr txBox="true"/>
          <p:nvPr/>
        </p:nvSpPr>
        <p:spPr>
          <a:xfrm rot="0">
            <a:off x="360312" y="6755207"/>
            <a:ext cx="2100094" cy="148590"/>
          </a:xfrm>
          <a:prstGeom prst="rect">
            <a:avLst/>
          </a:prstGeom>
        </p:spPr>
        <p:txBody>
          <a:bodyPr anchor="t" rtlCol="false" tIns="0" lIns="0" bIns="0" rIns="0">
            <a:spAutoFit/>
          </a:bodyPr>
          <a:lstStyle/>
          <a:p>
            <a:pPr algn="l">
              <a:lnSpc>
                <a:spcPts val="1260"/>
              </a:lnSpc>
            </a:pPr>
            <a:r>
              <a:rPr lang="en-US" sz="900" spc="-2">
                <a:solidFill>
                  <a:srgbClr val="FFFFFF"/>
                </a:solidFill>
                <a:latin typeface="Open Sans"/>
                <a:ea typeface="Open Sans"/>
                <a:cs typeface="Open Sans"/>
                <a:sym typeface="Open Sans"/>
              </a:rPr>
              <a:t>Bachelor of Business Management</a:t>
            </a:r>
          </a:p>
        </p:txBody>
      </p:sp>
      <p:sp>
        <p:nvSpPr>
          <p:cNvPr name="TextBox 37" id="37"/>
          <p:cNvSpPr txBox="true"/>
          <p:nvPr/>
        </p:nvSpPr>
        <p:spPr>
          <a:xfrm rot="0">
            <a:off x="360312" y="6561425"/>
            <a:ext cx="1831647" cy="165100"/>
          </a:xfrm>
          <a:prstGeom prst="rect">
            <a:avLst/>
          </a:prstGeom>
        </p:spPr>
        <p:txBody>
          <a:bodyPr anchor="t" rtlCol="false" tIns="0" lIns="0" bIns="0" rIns="0">
            <a:spAutoFit/>
          </a:bodyPr>
          <a:lstStyle/>
          <a:p>
            <a:pPr algn="l">
              <a:lnSpc>
                <a:spcPts val="1399"/>
              </a:lnSpc>
            </a:pPr>
            <a:r>
              <a:rPr lang="en-US" b="true" sz="999" spc="-2">
                <a:solidFill>
                  <a:srgbClr val="FFFFFF"/>
                </a:solidFill>
                <a:latin typeface="Open Sans Bold"/>
                <a:ea typeface="Open Sans Bold"/>
                <a:cs typeface="Open Sans Bold"/>
                <a:sym typeface="Open Sans Bold"/>
              </a:rPr>
              <a:t>BORCELLE UNIVERSITY</a:t>
            </a:r>
          </a:p>
        </p:txBody>
      </p:sp>
      <p:sp>
        <p:nvSpPr>
          <p:cNvPr name="TextBox 38" id="38"/>
          <p:cNvSpPr txBox="true"/>
          <p:nvPr/>
        </p:nvSpPr>
        <p:spPr>
          <a:xfrm rot="0">
            <a:off x="360312" y="6416416"/>
            <a:ext cx="996580" cy="148590"/>
          </a:xfrm>
          <a:prstGeom prst="rect">
            <a:avLst/>
          </a:prstGeom>
        </p:spPr>
        <p:txBody>
          <a:bodyPr anchor="t" rtlCol="false" tIns="0" lIns="0" bIns="0" rIns="0">
            <a:spAutoFit/>
          </a:bodyPr>
          <a:lstStyle/>
          <a:p>
            <a:pPr algn="l">
              <a:lnSpc>
                <a:spcPts val="1260"/>
              </a:lnSpc>
            </a:pPr>
            <a:r>
              <a:rPr lang="en-US" sz="900" spc="42">
                <a:solidFill>
                  <a:srgbClr val="FFFFFF"/>
                </a:solidFill>
                <a:latin typeface="Open Sans"/>
                <a:ea typeface="Open Sans"/>
                <a:cs typeface="Open Sans"/>
                <a:sym typeface="Open Sans"/>
              </a:rPr>
              <a:t>2012</a:t>
            </a:r>
          </a:p>
        </p:txBody>
      </p:sp>
      <p:sp>
        <p:nvSpPr>
          <p:cNvPr name="TextBox 39" id="39"/>
          <p:cNvSpPr txBox="true"/>
          <p:nvPr/>
        </p:nvSpPr>
        <p:spPr>
          <a:xfrm rot="0">
            <a:off x="360312" y="7475102"/>
            <a:ext cx="2100094" cy="148590"/>
          </a:xfrm>
          <a:prstGeom prst="rect">
            <a:avLst/>
          </a:prstGeom>
        </p:spPr>
        <p:txBody>
          <a:bodyPr anchor="t" rtlCol="false" tIns="0" lIns="0" bIns="0" rIns="0">
            <a:spAutoFit/>
          </a:bodyPr>
          <a:lstStyle/>
          <a:p>
            <a:pPr algn="l">
              <a:lnSpc>
                <a:spcPts val="1260"/>
              </a:lnSpc>
            </a:pPr>
            <a:r>
              <a:rPr lang="en-US" sz="900" spc="-2">
                <a:solidFill>
                  <a:srgbClr val="FFFFFF"/>
                </a:solidFill>
                <a:latin typeface="Open Sans"/>
                <a:ea typeface="Open Sans"/>
                <a:cs typeface="Open Sans"/>
                <a:sym typeface="Open Sans"/>
              </a:rPr>
              <a:t>Bachelor of Business Management</a:t>
            </a:r>
          </a:p>
        </p:txBody>
      </p:sp>
      <p:sp>
        <p:nvSpPr>
          <p:cNvPr name="TextBox 40" id="40"/>
          <p:cNvSpPr txBox="true"/>
          <p:nvPr/>
        </p:nvSpPr>
        <p:spPr>
          <a:xfrm rot="0">
            <a:off x="360312" y="7281320"/>
            <a:ext cx="1831647" cy="165100"/>
          </a:xfrm>
          <a:prstGeom prst="rect">
            <a:avLst/>
          </a:prstGeom>
        </p:spPr>
        <p:txBody>
          <a:bodyPr anchor="t" rtlCol="false" tIns="0" lIns="0" bIns="0" rIns="0">
            <a:spAutoFit/>
          </a:bodyPr>
          <a:lstStyle/>
          <a:p>
            <a:pPr algn="l">
              <a:lnSpc>
                <a:spcPts val="1399"/>
              </a:lnSpc>
            </a:pPr>
            <a:r>
              <a:rPr lang="en-US" b="true" sz="999" spc="-2">
                <a:solidFill>
                  <a:srgbClr val="FFFFFF"/>
                </a:solidFill>
                <a:latin typeface="Open Sans Bold"/>
                <a:ea typeface="Open Sans Bold"/>
                <a:cs typeface="Open Sans Bold"/>
                <a:sym typeface="Open Sans Bold"/>
              </a:rPr>
              <a:t>BORCELLE UNIVERSITY</a:t>
            </a:r>
          </a:p>
        </p:txBody>
      </p:sp>
      <p:sp>
        <p:nvSpPr>
          <p:cNvPr name="TextBox 41" id="41"/>
          <p:cNvSpPr txBox="true"/>
          <p:nvPr/>
        </p:nvSpPr>
        <p:spPr>
          <a:xfrm rot="0">
            <a:off x="360312" y="7136311"/>
            <a:ext cx="996580" cy="148590"/>
          </a:xfrm>
          <a:prstGeom prst="rect">
            <a:avLst/>
          </a:prstGeom>
        </p:spPr>
        <p:txBody>
          <a:bodyPr anchor="t" rtlCol="false" tIns="0" lIns="0" bIns="0" rIns="0">
            <a:spAutoFit/>
          </a:bodyPr>
          <a:lstStyle/>
          <a:p>
            <a:pPr algn="l">
              <a:lnSpc>
                <a:spcPts val="1260"/>
              </a:lnSpc>
            </a:pPr>
            <a:r>
              <a:rPr lang="en-US" sz="900" spc="42">
                <a:solidFill>
                  <a:srgbClr val="FFFFFF"/>
                </a:solidFill>
                <a:latin typeface="Open Sans"/>
                <a:ea typeface="Open Sans"/>
                <a:cs typeface="Open Sans"/>
                <a:sym typeface="Open Sans"/>
              </a:rPr>
              <a:t>2013</a:t>
            </a:r>
          </a:p>
        </p:txBody>
      </p:sp>
      <p:sp>
        <p:nvSpPr>
          <p:cNvPr name="TextBox 42" id="42"/>
          <p:cNvSpPr txBox="true"/>
          <p:nvPr/>
        </p:nvSpPr>
        <p:spPr>
          <a:xfrm rot="0">
            <a:off x="3103332" y="5212834"/>
            <a:ext cx="4104437" cy="890399"/>
          </a:xfrm>
          <a:prstGeom prst="rect">
            <a:avLst/>
          </a:prstGeom>
        </p:spPr>
        <p:txBody>
          <a:bodyPr anchor="t" rtlCol="false" tIns="0" lIns="0" bIns="0" rIns="0">
            <a:spAutoFit/>
          </a:bodyPr>
          <a:lstStyle/>
          <a:p>
            <a:pPr algn="just">
              <a:lnSpc>
                <a:spcPts val="1024"/>
              </a:lnSpc>
            </a:pPr>
            <a:r>
              <a:rPr lang="en-US" sz="800">
                <a:solidFill>
                  <a:srgbClr val="737373"/>
                </a:solidFill>
                <a:latin typeface="Open Sans"/>
                <a:ea typeface="Open Sans"/>
                <a:cs typeface="Open Sans"/>
                <a:sym typeface="Open Sans"/>
              </a:rPr>
              <a:t>Lorem ipsum dolor sit amet, consectetur adipiscing elit. Nullam pharetra in lorem at laoreet. Donec hendrerit libero eget est tempor, quis tempus arcu elementum. In elementum elit at dui tristique feugiat. Mauris convallis, mi at mattis malesuada, neque nulla volutpat dolor, hendrerit faucibus eros nibh ut nunc. Proin luctus urna id nunc sagittis dignissim. Sed in libero sed libero dictum dapibus. Vivamus fermentum est eget lorem aliquet, vel tempus metus dignissim. Donec risus arcu, tristique et sollicitudin blandit, iaculis ut nisl. Integer rutrum ultricies fringilla.</a:t>
            </a:r>
          </a:p>
        </p:txBody>
      </p:sp>
      <p:sp>
        <p:nvSpPr>
          <p:cNvPr name="TextBox 43" id="43"/>
          <p:cNvSpPr txBox="true"/>
          <p:nvPr/>
        </p:nvSpPr>
        <p:spPr>
          <a:xfrm rot="0">
            <a:off x="3103332" y="7200853"/>
            <a:ext cx="4104437" cy="890399"/>
          </a:xfrm>
          <a:prstGeom prst="rect">
            <a:avLst/>
          </a:prstGeom>
        </p:spPr>
        <p:txBody>
          <a:bodyPr anchor="t" rtlCol="false" tIns="0" lIns="0" bIns="0" rIns="0">
            <a:spAutoFit/>
          </a:bodyPr>
          <a:lstStyle/>
          <a:p>
            <a:pPr algn="just">
              <a:lnSpc>
                <a:spcPts val="1024"/>
              </a:lnSpc>
            </a:pPr>
            <a:r>
              <a:rPr lang="en-US" sz="800">
                <a:solidFill>
                  <a:srgbClr val="737373"/>
                </a:solidFill>
                <a:latin typeface="Open Sans"/>
                <a:ea typeface="Open Sans"/>
                <a:cs typeface="Open Sans"/>
                <a:sym typeface="Open Sans"/>
              </a:rPr>
              <a:t>Lorem ipsum dolor sit amet, consectetur adipiscing elit. Nullam pharetra in lorem at laoreet. Donec hendrerit libero eget est tempor, quis tempus arcu elementum. In elementum elit at dui tristique feugiat. Mauris convallis, mi at mattis malesuada, neque nulla volutpat dolor, hendrerit faucibus eros nibh ut nunc. Proin luctus urna id nunc sagittis dignissim. Sed in libero sed libero dictum dapibus. Vivamus fermentum est eget lorem aliquet, vel tempus metus dignissim. Donec risus arcu, tristique et sollicitudin blandit, iaculis ut nisl. Integer rutrum ultricies fringilla.</a:t>
            </a:r>
          </a:p>
        </p:txBody>
      </p:sp>
      <p:sp>
        <p:nvSpPr>
          <p:cNvPr name="TextBox 44" id="44"/>
          <p:cNvSpPr txBox="true"/>
          <p:nvPr/>
        </p:nvSpPr>
        <p:spPr>
          <a:xfrm rot="0">
            <a:off x="3103332" y="4927713"/>
            <a:ext cx="3181019" cy="198120"/>
          </a:xfrm>
          <a:prstGeom prst="rect">
            <a:avLst/>
          </a:prstGeom>
        </p:spPr>
        <p:txBody>
          <a:bodyPr anchor="t" rtlCol="false" tIns="0" lIns="0" bIns="0" rIns="0">
            <a:spAutoFit/>
          </a:bodyPr>
          <a:lstStyle/>
          <a:p>
            <a:pPr algn="l">
              <a:lnSpc>
                <a:spcPts val="1679"/>
              </a:lnSpc>
            </a:pPr>
            <a:r>
              <a:rPr lang="en-US" sz="1200" spc="-3">
                <a:solidFill>
                  <a:srgbClr val="272828"/>
                </a:solidFill>
                <a:latin typeface="Open Sans"/>
                <a:ea typeface="Open Sans"/>
                <a:cs typeface="Open Sans"/>
                <a:sym typeface="Open Sans"/>
              </a:rPr>
              <a:t>MARKETING MANAGER</a:t>
            </a:r>
          </a:p>
        </p:txBody>
      </p:sp>
      <p:sp>
        <p:nvSpPr>
          <p:cNvPr name="TextBox 45" id="45"/>
          <p:cNvSpPr txBox="true"/>
          <p:nvPr/>
        </p:nvSpPr>
        <p:spPr>
          <a:xfrm rot="0">
            <a:off x="3103332" y="6915731"/>
            <a:ext cx="3181019" cy="198120"/>
          </a:xfrm>
          <a:prstGeom prst="rect">
            <a:avLst/>
          </a:prstGeom>
        </p:spPr>
        <p:txBody>
          <a:bodyPr anchor="t" rtlCol="false" tIns="0" lIns="0" bIns="0" rIns="0">
            <a:spAutoFit/>
          </a:bodyPr>
          <a:lstStyle/>
          <a:p>
            <a:pPr algn="l">
              <a:lnSpc>
                <a:spcPts val="1679"/>
              </a:lnSpc>
            </a:pPr>
            <a:r>
              <a:rPr lang="en-US" sz="1200" spc="-3">
                <a:solidFill>
                  <a:srgbClr val="272828"/>
                </a:solidFill>
                <a:latin typeface="Open Sans"/>
                <a:ea typeface="Open Sans"/>
                <a:cs typeface="Open Sans"/>
                <a:sym typeface="Open Sans"/>
              </a:rPr>
              <a:t>INSIDE SALES REPRESENTATIVE</a:t>
            </a:r>
          </a:p>
        </p:txBody>
      </p:sp>
      <p:sp>
        <p:nvSpPr>
          <p:cNvPr name="TextBox 46" id="46"/>
          <p:cNvSpPr txBox="true"/>
          <p:nvPr/>
        </p:nvSpPr>
        <p:spPr>
          <a:xfrm rot="0">
            <a:off x="3103332" y="4473844"/>
            <a:ext cx="986805" cy="183985"/>
          </a:xfrm>
          <a:prstGeom prst="rect">
            <a:avLst/>
          </a:prstGeom>
        </p:spPr>
        <p:txBody>
          <a:bodyPr anchor="t" rtlCol="false" tIns="0" lIns="0" bIns="0" rIns="0">
            <a:spAutoFit/>
          </a:bodyPr>
          <a:lstStyle/>
          <a:p>
            <a:pPr algn="just">
              <a:lnSpc>
                <a:spcPts val="1581"/>
              </a:lnSpc>
            </a:pPr>
            <a:r>
              <a:rPr lang="en-US" sz="900" spc="42">
                <a:solidFill>
                  <a:srgbClr val="414042"/>
                </a:solidFill>
                <a:latin typeface="Open Sans"/>
                <a:ea typeface="Open Sans"/>
                <a:cs typeface="Open Sans"/>
                <a:sym typeface="Open Sans"/>
              </a:rPr>
              <a:t>2017-Present </a:t>
            </a:r>
          </a:p>
        </p:txBody>
      </p:sp>
      <p:sp>
        <p:nvSpPr>
          <p:cNvPr name="TextBox 47" id="47"/>
          <p:cNvSpPr txBox="true"/>
          <p:nvPr/>
        </p:nvSpPr>
        <p:spPr>
          <a:xfrm rot="0">
            <a:off x="3103332" y="6461863"/>
            <a:ext cx="986805" cy="183985"/>
          </a:xfrm>
          <a:prstGeom prst="rect">
            <a:avLst/>
          </a:prstGeom>
        </p:spPr>
        <p:txBody>
          <a:bodyPr anchor="t" rtlCol="false" tIns="0" lIns="0" bIns="0" rIns="0">
            <a:spAutoFit/>
          </a:bodyPr>
          <a:lstStyle/>
          <a:p>
            <a:pPr algn="just">
              <a:lnSpc>
                <a:spcPts val="1581"/>
              </a:lnSpc>
            </a:pPr>
            <a:r>
              <a:rPr lang="en-US" sz="900" spc="42">
                <a:solidFill>
                  <a:srgbClr val="414042"/>
                </a:solidFill>
                <a:latin typeface="Open Sans"/>
                <a:ea typeface="Open Sans"/>
                <a:cs typeface="Open Sans"/>
                <a:sym typeface="Open Sans"/>
              </a:rPr>
              <a:t>2015 - 2017</a:t>
            </a:r>
          </a:p>
        </p:txBody>
      </p:sp>
      <p:sp>
        <p:nvSpPr>
          <p:cNvPr name="TextBox 48" id="48"/>
          <p:cNvSpPr txBox="true"/>
          <p:nvPr/>
        </p:nvSpPr>
        <p:spPr>
          <a:xfrm rot="0">
            <a:off x="3103332" y="4644364"/>
            <a:ext cx="4104437" cy="183985"/>
          </a:xfrm>
          <a:prstGeom prst="rect">
            <a:avLst/>
          </a:prstGeom>
        </p:spPr>
        <p:txBody>
          <a:bodyPr anchor="t" rtlCol="false" tIns="0" lIns="0" bIns="0" rIns="0">
            <a:spAutoFit/>
          </a:bodyPr>
          <a:lstStyle/>
          <a:p>
            <a:pPr algn="just">
              <a:lnSpc>
                <a:spcPts val="1581"/>
              </a:lnSpc>
            </a:pPr>
            <a:r>
              <a:rPr lang="en-US" sz="900" spc="42">
                <a:solidFill>
                  <a:srgbClr val="414042"/>
                </a:solidFill>
                <a:latin typeface="Open Sans"/>
                <a:ea typeface="Open Sans"/>
                <a:cs typeface="Open Sans"/>
                <a:sym typeface="Open Sans"/>
              </a:rPr>
              <a:t>Ginyard International Co.l 123 Anywhere St., Any City</a:t>
            </a:r>
          </a:p>
        </p:txBody>
      </p:sp>
      <p:sp>
        <p:nvSpPr>
          <p:cNvPr name="TextBox 49" id="49"/>
          <p:cNvSpPr txBox="true"/>
          <p:nvPr/>
        </p:nvSpPr>
        <p:spPr>
          <a:xfrm rot="0">
            <a:off x="3103332" y="6632383"/>
            <a:ext cx="4104437" cy="183985"/>
          </a:xfrm>
          <a:prstGeom prst="rect">
            <a:avLst/>
          </a:prstGeom>
        </p:spPr>
        <p:txBody>
          <a:bodyPr anchor="t" rtlCol="false" tIns="0" lIns="0" bIns="0" rIns="0">
            <a:spAutoFit/>
          </a:bodyPr>
          <a:lstStyle/>
          <a:p>
            <a:pPr algn="just">
              <a:lnSpc>
                <a:spcPts val="1581"/>
              </a:lnSpc>
            </a:pPr>
            <a:r>
              <a:rPr lang="en-US" sz="900" spc="42">
                <a:solidFill>
                  <a:srgbClr val="414042"/>
                </a:solidFill>
                <a:latin typeface="Open Sans"/>
                <a:ea typeface="Open Sans"/>
                <a:cs typeface="Open Sans"/>
                <a:sym typeface="Open Sans"/>
              </a:rPr>
              <a:t>Ginyard International Co.l 123 Anywhere St., Any City</a:t>
            </a:r>
          </a:p>
        </p:txBody>
      </p:sp>
      <p:sp>
        <p:nvSpPr>
          <p:cNvPr name="TextBox 50" id="50"/>
          <p:cNvSpPr txBox="true"/>
          <p:nvPr/>
        </p:nvSpPr>
        <p:spPr>
          <a:xfrm rot="0">
            <a:off x="3103332" y="9173141"/>
            <a:ext cx="4104437" cy="890399"/>
          </a:xfrm>
          <a:prstGeom prst="rect">
            <a:avLst/>
          </a:prstGeom>
        </p:spPr>
        <p:txBody>
          <a:bodyPr anchor="t" rtlCol="false" tIns="0" lIns="0" bIns="0" rIns="0">
            <a:spAutoFit/>
          </a:bodyPr>
          <a:lstStyle/>
          <a:p>
            <a:pPr algn="just">
              <a:lnSpc>
                <a:spcPts val="1024"/>
              </a:lnSpc>
            </a:pPr>
            <a:r>
              <a:rPr lang="en-US" sz="800">
                <a:solidFill>
                  <a:srgbClr val="737373"/>
                </a:solidFill>
                <a:latin typeface="Open Sans"/>
                <a:ea typeface="Open Sans"/>
                <a:cs typeface="Open Sans"/>
                <a:sym typeface="Open Sans"/>
              </a:rPr>
              <a:t>Lorem ipsum dolor sit amet, consectetur adipiscing elit. Nullam pharetra in lorem at laoreet. Donec hendrerit libero eget est tempor, quis tempus arcu elementum. In elementum elit at dui tristique feugiat. Mauris convallis, mi at mattis malesuada, neque nulla volutpat dolor, hendrerit faucibus eros nibh ut nunc. Proin luctus urna id nunc sagittis dignissim. Sed in libero sed libero dictum dapibus. Vivamus fermentum est eget lorem aliquet, vel tempus metus dignissim. Donec risus arcu, tristique et sollicitudin blandit, iaculis ut nisl. Integer rutrum ultricies fringilla.</a:t>
            </a:r>
          </a:p>
        </p:txBody>
      </p:sp>
      <p:sp>
        <p:nvSpPr>
          <p:cNvPr name="TextBox 51" id="51"/>
          <p:cNvSpPr txBox="true"/>
          <p:nvPr/>
        </p:nvSpPr>
        <p:spPr>
          <a:xfrm rot="0">
            <a:off x="3103332" y="8888020"/>
            <a:ext cx="3181019" cy="198120"/>
          </a:xfrm>
          <a:prstGeom prst="rect">
            <a:avLst/>
          </a:prstGeom>
        </p:spPr>
        <p:txBody>
          <a:bodyPr anchor="t" rtlCol="false" tIns="0" lIns="0" bIns="0" rIns="0">
            <a:spAutoFit/>
          </a:bodyPr>
          <a:lstStyle/>
          <a:p>
            <a:pPr algn="l">
              <a:lnSpc>
                <a:spcPts val="1679"/>
              </a:lnSpc>
            </a:pPr>
            <a:r>
              <a:rPr lang="en-US" sz="1200" spc="-3">
                <a:solidFill>
                  <a:srgbClr val="272828"/>
                </a:solidFill>
                <a:latin typeface="Open Sans"/>
                <a:ea typeface="Open Sans"/>
                <a:cs typeface="Open Sans"/>
                <a:sym typeface="Open Sans"/>
              </a:rPr>
              <a:t>INSIDE SALES REPRESENTATIVE</a:t>
            </a:r>
          </a:p>
        </p:txBody>
      </p:sp>
      <p:sp>
        <p:nvSpPr>
          <p:cNvPr name="TextBox 52" id="52"/>
          <p:cNvSpPr txBox="true"/>
          <p:nvPr/>
        </p:nvSpPr>
        <p:spPr>
          <a:xfrm rot="0">
            <a:off x="3103332" y="8434152"/>
            <a:ext cx="986805" cy="183985"/>
          </a:xfrm>
          <a:prstGeom prst="rect">
            <a:avLst/>
          </a:prstGeom>
        </p:spPr>
        <p:txBody>
          <a:bodyPr anchor="t" rtlCol="false" tIns="0" lIns="0" bIns="0" rIns="0">
            <a:spAutoFit/>
          </a:bodyPr>
          <a:lstStyle/>
          <a:p>
            <a:pPr algn="just">
              <a:lnSpc>
                <a:spcPts val="1581"/>
              </a:lnSpc>
            </a:pPr>
            <a:r>
              <a:rPr lang="en-US" sz="900" spc="42">
                <a:solidFill>
                  <a:srgbClr val="414042"/>
                </a:solidFill>
                <a:latin typeface="Open Sans"/>
                <a:ea typeface="Open Sans"/>
                <a:cs typeface="Open Sans"/>
                <a:sym typeface="Open Sans"/>
              </a:rPr>
              <a:t>2013 - 2015</a:t>
            </a:r>
          </a:p>
        </p:txBody>
      </p:sp>
      <p:sp>
        <p:nvSpPr>
          <p:cNvPr name="TextBox 53" id="53"/>
          <p:cNvSpPr txBox="true"/>
          <p:nvPr/>
        </p:nvSpPr>
        <p:spPr>
          <a:xfrm rot="0">
            <a:off x="3103332" y="8604671"/>
            <a:ext cx="4104437" cy="183985"/>
          </a:xfrm>
          <a:prstGeom prst="rect">
            <a:avLst/>
          </a:prstGeom>
        </p:spPr>
        <p:txBody>
          <a:bodyPr anchor="t" rtlCol="false" tIns="0" lIns="0" bIns="0" rIns="0">
            <a:spAutoFit/>
          </a:bodyPr>
          <a:lstStyle/>
          <a:p>
            <a:pPr algn="just">
              <a:lnSpc>
                <a:spcPts val="1581"/>
              </a:lnSpc>
            </a:pPr>
            <a:r>
              <a:rPr lang="en-US" sz="900" spc="42">
                <a:solidFill>
                  <a:srgbClr val="414042"/>
                </a:solidFill>
                <a:latin typeface="Open Sans"/>
                <a:ea typeface="Open Sans"/>
                <a:cs typeface="Open Sans"/>
                <a:sym typeface="Open Sans"/>
              </a:rPr>
              <a:t>Ginyard International Co.l 123 Anywhere St., Any City</a:t>
            </a:r>
          </a:p>
        </p:txBody>
      </p:sp>
      <p:sp>
        <p:nvSpPr>
          <p:cNvPr name="TextBox 54" id="54"/>
          <p:cNvSpPr txBox="true"/>
          <p:nvPr/>
        </p:nvSpPr>
        <p:spPr>
          <a:xfrm rot="0">
            <a:off x="360312" y="8406924"/>
            <a:ext cx="1861664" cy="1573530"/>
          </a:xfrm>
          <a:prstGeom prst="rect">
            <a:avLst/>
          </a:prstGeom>
        </p:spPr>
        <p:txBody>
          <a:bodyPr anchor="t" rtlCol="false" tIns="0" lIns="0" bIns="0" rIns="0">
            <a:spAutoFit/>
          </a:bodyPr>
          <a:lstStyle/>
          <a:p>
            <a:pPr algn="l" marL="215899" indent="-107950" lvl="1">
              <a:lnSpc>
                <a:spcPts val="2159"/>
              </a:lnSpc>
              <a:buFont typeface="Arial"/>
              <a:buChar char="•"/>
            </a:pPr>
            <a:r>
              <a:rPr lang="en-US" sz="999">
                <a:solidFill>
                  <a:srgbClr val="FFFFFF"/>
                </a:solidFill>
                <a:latin typeface="Lato"/>
                <a:ea typeface="Lato"/>
                <a:cs typeface="Lato"/>
                <a:sym typeface="Lato"/>
              </a:rPr>
              <a:t>Management Skills</a:t>
            </a:r>
          </a:p>
          <a:p>
            <a:pPr algn="l" marL="215899" indent="-107950" lvl="1">
              <a:lnSpc>
                <a:spcPts val="2159"/>
              </a:lnSpc>
              <a:buFont typeface="Arial"/>
              <a:buChar char="•"/>
            </a:pPr>
            <a:r>
              <a:rPr lang="en-US" sz="999">
                <a:solidFill>
                  <a:srgbClr val="FFFFFF"/>
                </a:solidFill>
                <a:latin typeface="Lato"/>
                <a:ea typeface="Lato"/>
                <a:cs typeface="Lato"/>
                <a:sym typeface="Lato"/>
              </a:rPr>
              <a:t>Creativity</a:t>
            </a:r>
          </a:p>
          <a:p>
            <a:pPr algn="l" marL="215899" indent="-107950" lvl="1">
              <a:lnSpc>
                <a:spcPts val="2159"/>
              </a:lnSpc>
              <a:buFont typeface="Arial"/>
              <a:buChar char="•"/>
            </a:pPr>
            <a:r>
              <a:rPr lang="en-US" sz="999">
                <a:solidFill>
                  <a:srgbClr val="FFFFFF"/>
                </a:solidFill>
                <a:latin typeface="Lato"/>
                <a:ea typeface="Lato"/>
                <a:cs typeface="Lato"/>
                <a:sym typeface="Lato"/>
              </a:rPr>
              <a:t>Digital Marketing</a:t>
            </a:r>
          </a:p>
          <a:p>
            <a:pPr algn="l" marL="215899" indent="-107950" lvl="1">
              <a:lnSpc>
                <a:spcPts val="2159"/>
              </a:lnSpc>
              <a:buFont typeface="Arial"/>
              <a:buChar char="•"/>
            </a:pPr>
            <a:r>
              <a:rPr lang="en-US" sz="999">
                <a:solidFill>
                  <a:srgbClr val="FFFFFF"/>
                </a:solidFill>
                <a:latin typeface="Lato"/>
                <a:ea typeface="Lato"/>
                <a:cs typeface="Lato"/>
                <a:sym typeface="Lato"/>
              </a:rPr>
              <a:t>Negotiation</a:t>
            </a:r>
          </a:p>
          <a:p>
            <a:pPr algn="l" marL="215899" indent="-107950" lvl="1">
              <a:lnSpc>
                <a:spcPts val="2159"/>
              </a:lnSpc>
              <a:buFont typeface="Arial"/>
              <a:buChar char="•"/>
            </a:pPr>
            <a:r>
              <a:rPr lang="en-US" sz="999">
                <a:solidFill>
                  <a:srgbClr val="FFFFFF"/>
                </a:solidFill>
                <a:latin typeface="Lato"/>
                <a:ea typeface="Lato"/>
                <a:cs typeface="Lato"/>
                <a:sym typeface="Lato"/>
              </a:rPr>
              <a:t>Critical Thinking</a:t>
            </a:r>
          </a:p>
          <a:p>
            <a:pPr algn="l" marL="215899" indent="-107950" lvl="1">
              <a:lnSpc>
                <a:spcPts val="2159"/>
              </a:lnSpc>
              <a:buFont typeface="Arial"/>
              <a:buChar char="•"/>
            </a:pPr>
            <a:r>
              <a:rPr lang="en-US" sz="999">
                <a:solidFill>
                  <a:srgbClr val="FFFFFF"/>
                </a:solidFill>
                <a:latin typeface="Lato"/>
                <a:ea typeface="Lato"/>
                <a:cs typeface="Lato"/>
                <a:sym typeface="Lato"/>
              </a:rPr>
              <a:t>Leadership</a:t>
            </a:r>
          </a:p>
        </p:txBody>
      </p:sp>
      <p:sp>
        <p:nvSpPr>
          <p:cNvPr name="AutoShape 55" id="55"/>
          <p:cNvSpPr/>
          <p:nvPr/>
        </p:nvSpPr>
        <p:spPr>
          <a:xfrm flipV="true">
            <a:off x="3103332" y="2340877"/>
            <a:ext cx="4104437" cy="0"/>
          </a:xfrm>
          <a:prstGeom prst="line">
            <a:avLst/>
          </a:prstGeom>
          <a:ln cap="flat" w="9525">
            <a:solidFill>
              <a:srgbClr val="414042"/>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DAHGXhlwCx8</dc:identifier>
  <dcterms:modified xsi:type="dcterms:W3CDTF">2011-08-01T06:04:30Z</dcterms:modified>
  <cp:revision>1</cp:revision>
  <dc:title>Minimalist Modern Resume</dc:title>
</cp:coreProperties>
</file>